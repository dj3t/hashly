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1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4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37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6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7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2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6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86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4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76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10" r:id="rId6"/>
    <p:sldLayoutId id="2147483815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Background Fill">
            <a:extLst>
              <a:ext uri="{FF2B5EF4-FFF2-40B4-BE49-F238E27FC236}">
                <a16:creationId xmlns:a16="http://schemas.microsoft.com/office/drawing/2014/main" id="{06087813-B81F-42C4-A0EA-F9078FB61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olor Fill">
            <a:extLst>
              <a:ext uri="{FF2B5EF4-FFF2-40B4-BE49-F238E27FC236}">
                <a16:creationId xmlns:a16="http://schemas.microsoft.com/office/drawing/2014/main" id="{C4B295A1-75D3-4C3B-82E7-C5CFD80A7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ED38D1D7-BA30-4FF3-A0CC-9E90BB966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744625" y="0"/>
            <a:ext cx="5444327" cy="6734640"/>
            <a:chOff x="6744625" y="0"/>
            <a:chExt cx="5444327" cy="6734640"/>
          </a:xfrm>
        </p:grpSpPr>
        <p:sp>
          <p:nvSpPr>
            <p:cNvPr id="15" name="Graphic 9">
              <a:extLst>
                <a:ext uri="{FF2B5EF4-FFF2-40B4-BE49-F238E27FC236}">
                  <a16:creationId xmlns:a16="http://schemas.microsoft.com/office/drawing/2014/main" id="{A217CF63-2FBD-4FA2-838C-6287D9F54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744625" y="967196"/>
              <a:ext cx="2116766" cy="211676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Graphic 18">
              <a:extLst>
                <a:ext uri="{FF2B5EF4-FFF2-40B4-BE49-F238E27FC236}">
                  <a16:creationId xmlns:a16="http://schemas.microsoft.com/office/drawing/2014/main" id="{C8F9462C-D125-4450-B35D-6E680DD30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9618226" y="3599573"/>
              <a:ext cx="2057060" cy="3135067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FA1A088-C133-4278-93CD-B7F518F32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6262" y="685620"/>
              <a:ext cx="265579" cy="265579"/>
            </a:xfrm>
            <a:prstGeom prst="ellipse">
              <a:avLst/>
            </a:pr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31790C-9903-4B27-9B13-F9FFD286D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52849" y="0"/>
              <a:ext cx="1303285" cy="962498"/>
            </a:xfrm>
            <a:custGeom>
              <a:avLst/>
              <a:gdLst>
                <a:gd name="connsiteX0" fmla="*/ 0 w 1303285"/>
                <a:gd name="connsiteY0" fmla="*/ 0 h 962498"/>
                <a:gd name="connsiteX1" fmla="*/ 1303285 w 1303285"/>
                <a:gd name="connsiteY1" fmla="*/ 0 h 962498"/>
                <a:gd name="connsiteX2" fmla="*/ 1298420 w 1303285"/>
                <a:gd name="connsiteY2" fmla="*/ 67508 h 962498"/>
                <a:gd name="connsiteX3" fmla="*/ 651642 w 1303285"/>
                <a:gd name="connsiteY3" fmla="*/ 962498 h 962498"/>
                <a:gd name="connsiteX4" fmla="*/ 4865 w 1303285"/>
                <a:gd name="connsiteY4" fmla="*/ 67508 h 96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3285" h="962498">
                  <a:moveTo>
                    <a:pt x="0" y="0"/>
                  </a:moveTo>
                  <a:lnTo>
                    <a:pt x="1303285" y="0"/>
                  </a:lnTo>
                  <a:lnTo>
                    <a:pt x="1298420" y="67508"/>
                  </a:lnTo>
                  <a:cubicBezTo>
                    <a:pt x="1226555" y="570204"/>
                    <a:pt x="651642" y="962498"/>
                    <a:pt x="651642" y="962498"/>
                  </a:cubicBezTo>
                  <a:cubicBezTo>
                    <a:pt x="651642" y="962498"/>
                    <a:pt x="76729" y="570204"/>
                    <a:pt x="4865" y="67508"/>
                  </a:cubicBezTo>
                  <a:close/>
                </a:path>
              </a:pathLst>
            </a:custGeom>
            <a:solidFill>
              <a:schemeClr val="bg2">
                <a:alpha val="34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A25AE1A-8F17-40E6-A1BB-ED8F665B7E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60221" y="1219177"/>
              <a:ext cx="528731" cy="1057462"/>
            </a:xfrm>
            <a:custGeom>
              <a:avLst/>
              <a:gdLst>
                <a:gd name="connsiteX0" fmla="*/ 528731 w 528731"/>
                <a:gd name="connsiteY0" fmla="*/ 0 h 1057462"/>
                <a:gd name="connsiteX1" fmla="*/ 528731 w 528731"/>
                <a:gd name="connsiteY1" fmla="*/ 1057462 h 1057462"/>
                <a:gd name="connsiteX2" fmla="*/ 0 w 528731"/>
                <a:gd name="connsiteY2" fmla="*/ 528731 h 1057462"/>
                <a:gd name="connsiteX3" fmla="*/ 528731 w 528731"/>
                <a:gd name="connsiteY3" fmla="*/ 0 h 105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731" h="1057462">
                  <a:moveTo>
                    <a:pt x="528731" y="0"/>
                  </a:moveTo>
                  <a:lnTo>
                    <a:pt x="528731" y="1057462"/>
                  </a:lnTo>
                  <a:cubicBezTo>
                    <a:pt x="236721" y="1057462"/>
                    <a:pt x="0" y="820741"/>
                    <a:pt x="0" y="528731"/>
                  </a:cubicBezTo>
                  <a:cubicBezTo>
                    <a:pt x="0" y="236721"/>
                    <a:pt x="236721" y="0"/>
                    <a:pt x="528731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ure">
            <a:extLst>
              <a:ext uri="{FF2B5EF4-FFF2-40B4-BE49-F238E27FC236}">
                <a16:creationId xmlns:a16="http://schemas.microsoft.com/office/drawing/2014/main" id="{E4B2AF95-7029-4856-9CE4-BBBE8CF80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ED228A-6FDE-7197-891B-CED9D590C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296" y="2932568"/>
            <a:ext cx="2930080" cy="797688"/>
          </a:xfrm>
        </p:spPr>
        <p:txBody>
          <a:bodyPr>
            <a:normAutofit fontScale="90000"/>
          </a:bodyPr>
          <a:lstStyle/>
          <a:p>
            <a:r>
              <a:rPr lang="fr-FR" b="1" dirty="0">
                <a:latin typeface="Copperplate Gothic Bold" panose="020E0705020206020404" pitchFamily="34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Hashly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F03B2F-B34F-93C0-E80D-85426434C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48316" y="1135173"/>
            <a:ext cx="4748792" cy="4748792"/>
          </a:xfrm>
          <a:custGeom>
            <a:avLst/>
            <a:gdLst/>
            <a:ahLst/>
            <a:cxnLst/>
            <a:rect l="l" t="t" r="r" b="b"/>
            <a:pathLst>
              <a:path w="3129592" h="3129592">
                <a:moveTo>
                  <a:pt x="1564796" y="0"/>
                </a:moveTo>
                <a:cubicBezTo>
                  <a:pt x="2429009" y="0"/>
                  <a:pt x="3129592" y="700583"/>
                  <a:pt x="3129592" y="1564796"/>
                </a:cubicBezTo>
                <a:cubicBezTo>
                  <a:pt x="3129592" y="2429009"/>
                  <a:pt x="2429009" y="3129592"/>
                  <a:pt x="1564796" y="3129592"/>
                </a:cubicBezTo>
                <a:cubicBezTo>
                  <a:pt x="700583" y="3129592"/>
                  <a:pt x="0" y="2429009"/>
                  <a:pt x="0" y="1564796"/>
                </a:cubicBezTo>
                <a:cubicBezTo>
                  <a:pt x="0" y="700583"/>
                  <a:pt x="700583" y="0"/>
                  <a:pt x="156479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63479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118351-7C9E-EA67-E53E-D0C4E8BC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opperplate Gothic Bold" panose="020E0705020206020404" pitchFamily="34" charset="0"/>
              </a:rPr>
              <a:t>Contexte</a:t>
            </a:r>
            <a:r>
              <a:rPr lang="fr-FR" dirty="0"/>
              <a:t> :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70F09C-500C-D7DB-6F21-B1C364ED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87048"/>
            <a:ext cx="7685037" cy="40802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fr-FR" sz="3600" dirty="0"/>
          </a:p>
          <a:p>
            <a:pPr>
              <a:lnSpc>
                <a:spcPct val="150000"/>
              </a:lnSpc>
            </a:pPr>
            <a:r>
              <a:rPr lang="fr-FR" sz="3600" dirty="0"/>
              <a:t>Logiciel commandé par Capgemini</a:t>
            </a:r>
          </a:p>
          <a:p>
            <a:pPr>
              <a:lnSpc>
                <a:spcPct val="150000"/>
              </a:lnSpc>
            </a:pPr>
            <a:r>
              <a:rPr lang="fr-FR" sz="3600" dirty="0"/>
              <a:t>Outils de </a:t>
            </a:r>
            <a:r>
              <a:rPr lang="fr-FR" sz="3600" dirty="0" err="1"/>
              <a:t>pentest</a:t>
            </a:r>
            <a:r>
              <a:rPr lang="fr-FR" sz="3600" dirty="0"/>
              <a:t> permettant de gérer rapidement un hash </a:t>
            </a:r>
          </a:p>
        </p:txBody>
      </p:sp>
    </p:spTree>
    <p:extLst>
      <p:ext uri="{BB962C8B-B14F-4D97-AF65-F5344CB8AC3E}">
        <p14:creationId xmlns:p14="http://schemas.microsoft.com/office/powerpoint/2010/main" val="2204908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49BE3-CD19-122C-24DD-68CFD7B8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opperplate Gothic Bold" panose="020E0705020206020404" pitchFamily="34" charset="0"/>
              </a:rPr>
              <a:t>Attentes vis-à-vis du projet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992A8D-AC5D-FC5D-7ACC-B16C8DD05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200" dirty="0"/>
              <a:t>Un programme qui permet de charger le hash</a:t>
            </a:r>
          </a:p>
          <a:p>
            <a:pPr>
              <a:lnSpc>
                <a:spcPct val="200000"/>
              </a:lnSpc>
            </a:pPr>
            <a:r>
              <a:rPr lang="fr-FR" sz="2200" dirty="0"/>
              <a:t>Une identification automatique de l’algorithme de hachage</a:t>
            </a:r>
          </a:p>
          <a:p>
            <a:pPr>
              <a:lnSpc>
                <a:spcPct val="200000"/>
              </a:lnSpc>
            </a:pPr>
            <a:r>
              <a:rPr lang="fr-FR" sz="2200" dirty="0"/>
              <a:t>Le renvoi d’une commande prête à l’emploi pour l’outil </a:t>
            </a:r>
            <a:r>
              <a:rPr lang="fr-FR" sz="2200" dirty="0" err="1"/>
              <a:t>Hashcat</a:t>
            </a:r>
            <a:endParaRPr lang="fr-FR" sz="2200" dirty="0"/>
          </a:p>
          <a:p>
            <a:pPr>
              <a:lnSpc>
                <a:spcPct val="200000"/>
              </a:lnSpc>
            </a:pPr>
            <a:r>
              <a:rPr lang="fr-FR" sz="2200" dirty="0"/>
              <a:t>Un retour contextuel détaillé qui fournir les caractéristiques du mot de passe pour chaque algorithme </a:t>
            </a:r>
          </a:p>
        </p:txBody>
      </p:sp>
    </p:spTree>
    <p:extLst>
      <p:ext uri="{BB962C8B-B14F-4D97-AF65-F5344CB8AC3E}">
        <p14:creationId xmlns:p14="http://schemas.microsoft.com/office/powerpoint/2010/main" val="47584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E88790-A1DF-5A02-5038-571FFC5A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opperplate Gothic Bold" panose="020E0705020206020404" pitchFamily="34" charset="0"/>
              </a:rPr>
              <a:t>Difficulté technique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44299D-6FC8-D104-4B69-D9E830291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 algn="just">
              <a:lnSpc>
                <a:spcPct val="200000"/>
              </a:lnSpc>
              <a:buNone/>
            </a:pPr>
            <a:r>
              <a:rPr lang="fr-FR" sz="2400" dirty="0">
                <a:latin typeface="Amasis MT Pro Black" panose="02040A04050005020304" pitchFamily="18" charset="0"/>
              </a:rPr>
              <a:t>Tous les hash ne sont pas reconnaissables facilement, il faut donc demander à l’utilisateur des données supplémentaire pour déterminer l’algorithme de hachage à partir d’éléments de contexte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201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54041F-BE02-668E-C815-403633427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5A2948-BE37-DDBA-68B1-B4BFD7A7D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25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FBD158D-9B0A-A7F2-7187-D3E323A3B426}"/>
              </a:ext>
            </a:extLst>
          </p:cNvPr>
          <p:cNvSpPr txBox="1"/>
          <p:nvPr/>
        </p:nvSpPr>
        <p:spPr>
          <a:xfrm>
            <a:off x="2053653" y="2353455"/>
            <a:ext cx="5291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opperplate Gothic Bold" panose="020E0705020206020404" pitchFamily="34" charset="0"/>
              </a:rPr>
              <a:t>Démonstration</a:t>
            </a:r>
          </a:p>
        </p:txBody>
      </p:sp>
    </p:spTree>
    <p:extLst>
      <p:ext uri="{BB962C8B-B14F-4D97-AF65-F5344CB8AC3E}">
        <p14:creationId xmlns:p14="http://schemas.microsoft.com/office/powerpoint/2010/main" val="45901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0B5BBC-0C81-52D3-4A4C-019CD579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opperplate Gothic Bold" panose="020E0705020206020404" pitchFamily="34" charset="0"/>
              </a:rPr>
              <a:t>Limitations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1C122E-C61E-1BC0-A490-C2B63A070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nous est impossible de reconnaitre 100% des algorithme de hachage, on est obligé de se restreindre à une liste, notre logiciel peut ainsi traiter les cas de : )</a:t>
            </a:r>
          </a:p>
          <a:p>
            <a:r>
              <a:rPr lang="fr-FR" dirty="0"/>
              <a:t>Malgré la diversité de cas traités, il est dans la plupart des cas </a:t>
            </a:r>
            <a:r>
              <a:rPr lang="fr-FR"/>
              <a:t>impossible de donner </a:t>
            </a:r>
            <a:r>
              <a:rPr lang="fr-FR" dirty="0"/>
              <a:t>avec 100% de certitude l’algorithme de hachage, on ne peut que donner le plus probable</a:t>
            </a:r>
          </a:p>
          <a:p>
            <a:r>
              <a:rPr lang="fr-FR" dirty="0"/>
              <a:t>Les attaques </a:t>
            </a:r>
            <a:r>
              <a:rPr lang="fr-FR" dirty="0" err="1"/>
              <a:t>brutforce</a:t>
            </a:r>
            <a:r>
              <a:rPr lang="fr-FR" dirty="0"/>
              <a:t> utilisées par </a:t>
            </a:r>
            <a:r>
              <a:rPr lang="fr-FR" dirty="0" err="1"/>
              <a:t>Hashcat</a:t>
            </a:r>
            <a:r>
              <a:rPr lang="fr-FR" dirty="0"/>
              <a:t> dont rarement une bonne solution</a:t>
            </a:r>
          </a:p>
        </p:txBody>
      </p:sp>
    </p:spTree>
    <p:extLst>
      <p:ext uri="{BB962C8B-B14F-4D97-AF65-F5344CB8AC3E}">
        <p14:creationId xmlns:p14="http://schemas.microsoft.com/office/powerpoint/2010/main" val="705702702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123</TotalTime>
  <Words>174</Words>
  <Application>Microsoft Office PowerPoint</Application>
  <PresentationFormat>Grand écran</PresentationFormat>
  <Paragraphs>17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Amasis MT Pro Black</vt:lpstr>
      <vt:lpstr>Arial</vt:lpstr>
      <vt:lpstr>Copperplate Gothic Bold</vt:lpstr>
      <vt:lpstr>Gill Sans Nova</vt:lpstr>
      <vt:lpstr>TropicVTI</vt:lpstr>
      <vt:lpstr>Hashly</vt:lpstr>
      <vt:lpstr>Contexte : </vt:lpstr>
      <vt:lpstr>Attentes vis-à-vis du projet :</vt:lpstr>
      <vt:lpstr>Difficulté technique :</vt:lpstr>
      <vt:lpstr>Présentation PowerPoint</vt:lpstr>
      <vt:lpstr>Présentation PowerPoint</vt:lpstr>
      <vt:lpstr>Limitations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SAINTE HERMINE Jean</dc:creator>
  <cp:lastModifiedBy>DE SAINTE HERMINE Jean</cp:lastModifiedBy>
  <cp:revision>1</cp:revision>
  <dcterms:created xsi:type="dcterms:W3CDTF">2025-11-12T12:52:27Z</dcterms:created>
  <dcterms:modified xsi:type="dcterms:W3CDTF">2025-11-12T14:56:25Z</dcterms:modified>
</cp:coreProperties>
</file>